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2" r:id="rId2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63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874710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7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097280"/>
            <a:ext cx="5029200" cy="5029200"/>
          </a:xfrm>
          <a:prstGeom prst="roundRect">
            <a:avLst>
              <a:gd name="adj" fmla="val 50000"/>
            </a:avLst>
          </a:prstGeom>
          <a:solidFill>
            <a:srgbClr val="16294A"/>
          </a:solidFill>
          <a:ln/>
        </p:spPr>
      </p:sp>
      <p:sp>
        <p:nvSpPr>
          <p:cNvPr id="3" name="Shape 1"/>
          <p:cNvSpPr/>
          <p:nvPr/>
        </p:nvSpPr>
        <p:spPr>
          <a:xfrm>
            <a:off x="9784080" y="4206240"/>
            <a:ext cx="3291840" cy="3291840"/>
          </a:xfrm>
          <a:prstGeom prst="roundRect">
            <a:avLst>
              <a:gd name="adj" fmla="val 50000"/>
            </a:avLst>
          </a:prstGeom>
          <a:solidFill>
            <a:srgbClr val="16294A"/>
          </a:solidFill>
          <a:ln/>
        </p:spPr>
      </p:sp>
      <p:sp>
        <p:nvSpPr>
          <p:cNvPr id="4" name="Text 2"/>
          <p:cNvSpPr/>
          <p:nvPr/>
        </p:nvSpPr>
        <p:spPr>
          <a:xfrm>
            <a:off x="9692640" y="2377440"/>
            <a:ext cx="2011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}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822960" y="18288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INTERACTIVO · JAVASCRIPT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331720"/>
            <a:ext cx="768096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lógica de PSeInt</a:t>
            </a:r>
            <a:endParaRPr lang="en-US" sz="4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código real en JavaScript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822960" y="43434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7C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prompt() · alert() · 100% archivos .js · sin una línea de HTML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22960" y="5029200"/>
            <a:ext cx="640080" cy="73152"/>
          </a:xfrm>
          <a:prstGeom prst="roundRect">
            <a:avLst>
              <a:gd name="adj" fmla="val 50000"/>
            </a:avLst>
          </a:prstGeom>
          <a:solidFill>
            <a:srgbClr val="F7DF1E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52120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592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Sublime Text  +  Consola del navegador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¡Bienvenido/a!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6035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662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estás empezando de cero: ya sabés pensar como programador/a. Lo que cambia acá es la sintaxis, no la lógica.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5394960" cy="77724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 w="12700">
            <a:solidFill>
              <a:srgbClr val="E3E6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148840"/>
            <a:ext cx="822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463040" y="224028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4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Entorno y metodología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463040" y="256032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662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Sublime Text + Consola del navegador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17920" y="2148840"/>
            <a:ext cx="5394960" cy="77724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 w="12700">
            <a:solidFill>
              <a:srgbClr val="E3E6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0" y="2148840"/>
            <a:ext cx="822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132320" y="224028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4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Equivalencias PSeInt ↔ JS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132320" y="256032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662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misma lógica, otra sintaxis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127248"/>
            <a:ext cx="5394960" cy="77724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 w="12700">
            <a:solidFill>
              <a:srgbClr val="E3E6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3127248"/>
            <a:ext cx="822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463040" y="3218688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4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y prompt()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463040" y="3538728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662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let, const y conversión de tipos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17920" y="3127248"/>
            <a:ext cx="5394960" cy="77724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 w="12700">
            <a:solidFill>
              <a:srgbClr val="E3E6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0" y="3127248"/>
            <a:ext cx="822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132320" y="3218688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4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de flujo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132320" y="3538728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662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if, switch y while con prompt()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4105656"/>
            <a:ext cx="5394960" cy="77724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 w="12700">
            <a:solidFill>
              <a:srgbClr val="E3E6E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4105656"/>
            <a:ext cx="822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463040" y="4197096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4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Funciones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463040" y="4517136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662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function, parámetros y return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217920" y="4105656"/>
            <a:ext cx="5394960" cy="77724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 w="12700">
            <a:solidFill>
              <a:srgbClr val="E3E6E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0" y="4105656"/>
            <a:ext cx="822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7132320" y="4197096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4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integrador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132320" y="4517136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662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programa completo paso a paso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48640" y="5084064"/>
            <a:ext cx="5394960" cy="77724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 w="12700">
            <a:solidFill>
              <a:srgbClr val="E3E6E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1520" y="5084064"/>
            <a:ext cx="822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1463040" y="5175504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4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Desafíos prácticos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463040" y="5495544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662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ejercicios para resolver solo/a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de JavaScript · desde PSeInt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0B1F3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ENTORNO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Sublime Text?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662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PSeInt escribías y ejecutabas en el mismo lugar. Ahora esas dos tareas se separan: Sublime Text edita, el navegador ejecuta.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377440"/>
            <a:ext cx="3429000" cy="2926080"/>
          </a:xfrm>
          <a:prstGeom prst="roundRect">
            <a:avLst>
              <a:gd name="adj" fmla="val 3125"/>
            </a:avLst>
          </a:prstGeom>
          <a:solidFill>
            <a:srgbClr val="0B1F3A"/>
          </a:solidFill>
          <a:ln/>
        </p:spPr>
      </p:sp>
      <p:sp>
        <p:nvSpPr>
          <p:cNvPr id="7" name="Shape 5"/>
          <p:cNvSpPr/>
          <p:nvPr/>
        </p:nvSpPr>
        <p:spPr>
          <a:xfrm>
            <a:off x="822960" y="2697480"/>
            <a:ext cx="502920" cy="502920"/>
          </a:xfrm>
          <a:prstGeom prst="ellipse">
            <a:avLst/>
          </a:prstGeom>
          <a:solidFill>
            <a:srgbClr val="F7DF1E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697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22960" y="3383280"/>
            <a:ext cx="2880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Liviano y rápido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3886200"/>
            <a:ext cx="28803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7C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Abre instantáneo, sin configuración compleja para empezar a escribir código.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251960" y="2377440"/>
            <a:ext cx="3429000" cy="2926080"/>
          </a:xfrm>
          <a:prstGeom prst="roundRect">
            <a:avLst>
              <a:gd name="adj" fmla="val 3125"/>
            </a:avLst>
          </a:prstGeom>
          <a:solidFill>
            <a:srgbClr val="0B1F3A"/>
          </a:solidFill>
          <a:ln/>
        </p:spPr>
      </p:sp>
      <p:sp>
        <p:nvSpPr>
          <p:cNvPr id="12" name="Shape 10"/>
          <p:cNvSpPr/>
          <p:nvPr/>
        </p:nvSpPr>
        <p:spPr>
          <a:xfrm>
            <a:off x="4526280" y="2697480"/>
            <a:ext cx="502920" cy="502920"/>
          </a:xfrm>
          <a:prstGeom prst="ellipse">
            <a:avLst/>
          </a:prstGeom>
          <a:solidFill>
            <a:srgbClr val="F7DF1E"/>
          </a:solidFill>
          <a:ln/>
        </p:spPr>
      </p:sp>
      <p:sp>
        <p:nvSpPr>
          <p:cNvPr id="13" name="Text 11"/>
          <p:cNvSpPr/>
          <p:nvPr/>
        </p:nvSpPr>
        <p:spPr>
          <a:xfrm>
            <a:off x="4526280" y="2697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526280" y="3383280"/>
            <a:ext cx="2880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Resaltado de sintaxis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26280" y="3886200"/>
            <a:ext cx="28803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7C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Colorea automáticamente palabras clave, textos y comentarios: leer código se vuelve más fácil.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955280" y="2377440"/>
            <a:ext cx="3429000" cy="2926080"/>
          </a:xfrm>
          <a:prstGeom prst="roundRect">
            <a:avLst>
              <a:gd name="adj" fmla="val 3125"/>
            </a:avLst>
          </a:prstGeom>
          <a:solidFill>
            <a:srgbClr val="0B1F3A"/>
          </a:solidFill>
          <a:ln/>
        </p:spPr>
      </p:sp>
      <p:sp>
        <p:nvSpPr>
          <p:cNvPr id="17" name="Shape 15"/>
          <p:cNvSpPr/>
          <p:nvPr/>
        </p:nvSpPr>
        <p:spPr>
          <a:xfrm>
            <a:off x="8229600" y="2697480"/>
            <a:ext cx="502920" cy="502920"/>
          </a:xfrm>
          <a:prstGeom prst="ellipse">
            <a:avLst/>
          </a:prstGeom>
          <a:solidFill>
            <a:srgbClr val="F7DF1E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0" y="2697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229600" y="3383280"/>
            <a:ext cx="2880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distracciones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229600" y="3886200"/>
            <a:ext cx="28803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7C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interfaz simple, enfocada solo en escribir y organizar tus archivos .js.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8640" y="55321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 clave:  Sublime Text = donde escribo el código  ·  Navegador = donde lo ejecuto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de JavaScript · desde PSeInt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0B1F3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ENTORNO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aclaración antes de arrancar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5120640" cy="4206240"/>
          </a:xfrm>
          <a:prstGeom prst="roundRect">
            <a:avLst>
              <a:gd name="adj" fmla="val 2174"/>
            </a:avLst>
          </a:prstGeom>
          <a:solidFill>
            <a:srgbClr val="FFF4E5"/>
          </a:solidFill>
          <a:ln w="12700">
            <a:solidFill>
              <a:srgbClr val="F3D9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828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9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463040" y="187452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A4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.js NO se ejecuta solo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2514600"/>
            <a:ext cx="457200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6B3E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seguridad, los navegadores solo ejecutan JavaScript vinculado a un documento HTML. Si abrís un .js suelto con doble clic, el navegador muestra el código como texto plano — ningún prompt() ni alert() va a aparecer.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943600" y="1600200"/>
            <a:ext cx="5669280" cy="4206240"/>
          </a:xfrm>
          <a:prstGeom prst="roundRect">
            <a:avLst>
              <a:gd name="adj" fmla="val 2174"/>
            </a:avLst>
          </a:prstGeom>
          <a:solidFill>
            <a:srgbClr val="0B1F3A"/>
          </a:solidFill>
          <a:ln/>
        </p:spPr>
      </p:sp>
      <p:sp>
        <p:nvSpPr>
          <p:cNvPr id="10" name="Text 8"/>
          <p:cNvSpPr/>
          <p:nvPr/>
        </p:nvSpPr>
        <p:spPr>
          <a:xfrm>
            <a:off x="6217920" y="1828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6858000" y="18745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solución real: la Consola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217920" y="2514600"/>
            <a:ext cx="51206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E3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Existe una forma de trabajar exclusivamente con archivos .js, sin escribir una sola línea de HTML: la Consola del navegador (DevTools). Ahí pegamos y ejecutamos todo nuestro código durante este manual.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217920" y="4343400"/>
            <a:ext cx="5120640" cy="1280160"/>
          </a:xfrm>
          <a:prstGeom prst="roundRect">
            <a:avLst>
              <a:gd name="adj" fmla="val 5714"/>
            </a:avLst>
          </a:prstGeom>
          <a:solidFill>
            <a:srgbClr val="16294A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0" y="452628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F12  →  pestaña “Console”  →  pegar código  →  Enter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0" y="493776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Chrome puede pedir escribir "allow pasting" la primera vez: es normal.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de JavaScript · desde PSeInt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0B1F3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ENTORNO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de trabajo, paso a paso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2514600" cy="26517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3E6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85900" y="2194560"/>
            <a:ext cx="640080" cy="64008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7" name="Text 5"/>
          <p:cNvSpPr/>
          <p:nvPr/>
        </p:nvSpPr>
        <p:spPr>
          <a:xfrm>
            <a:off x="1485900" y="21945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31520" y="297180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el archivo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31520" y="3429000"/>
            <a:ext cx="2148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050" dirty="0">
                <a:solidFill>
                  <a:srgbClr val="5662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Guardá un archivo .js en Sublime Text (ej. ejercicio1.js) con tu código.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081528" y="2148840"/>
            <a:ext cx="182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3291840" y="1920240"/>
            <a:ext cx="2514600" cy="26517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3E6E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29100" y="2194560"/>
            <a:ext cx="640080" cy="64008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3" name="Text 11"/>
          <p:cNvSpPr/>
          <p:nvPr/>
        </p:nvSpPr>
        <p:spPr>
          <a:xfrm>
            <a:off x="4229100" y="21945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474720" y="297180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Abrir la Consola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3474720" y="3429000"/>
            <a:ext cx="2148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050" dirty="0">
                <a:solidFill>
                  <a:srgbClr val="5662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F12 en el navegador → pestaña “Console”. No hace falta ningún HTML.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824728" y="2148840"/>
            <a:ext cx="182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6035040" y="1920240"/>
            <a:ext cx="2514600" cy="26517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3E6E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972300" y="2194560"/>
            <a:ext cx="640080" cy="64008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9" name="Text 17"/>
          <p:cNvSpPr/>
          <p:nvPr/>
        </p:nvSpPr>
        <p:spPr>
          <a:xfrm>
            <a:off x="6972300" y="21945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217920" y="297180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Copiar y pegar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217920" y="3429000"/>
            <a:ext cx="2148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050" dirty="0">
                <a:solidFill>
                  <a:srgbClr val="5662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Seleccioná todo en Sublime (Ctrl+A, Ctrl+C) y pegalo en la Consola.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567928" y="2148840"/>
            <a:ext cx="182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8778240" y="1920240"/>
            <a:ext cx="2514600" cy="26517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3E6E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715500" y="2194560"/>
            <a:ext cx="640080" cy="64008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25" name="Text 23"/>
          <p:cNvSpPr/>
          <p:nvPr/>
        </p:nvSpPr>
        <p:spPr>
          <a:xfrm>
            <a:off x="9715500" y="21945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8961120" y="297180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Ejecutar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8961120" y="3429000"/>
            <a:ext cx="2148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050" dirty="0">
                <a:solidFill>
                  <a:srgbClr val="5662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Presioná Enter: prompt() y alert() aparecen de inmediato en pantalla.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4937760"/>
            <a:ext cx="11064240" cy="1005840"/>
          </a:xfrm>
          <a:prstGeom prst="roundRect">
            <a:avLst>
              <a:gd name="adj" fmla="val 9091"/>
            </a:avLst>
          </a:prstGeom>
          <a:solidFill>
            <a:srgbClr val="0B1F3A"/>
          </a:solidFill>
          <a:ln/>
        </p:spPr>
      </p:sp>
      <p:sp>
        <p:nvSpPr>
          <p:cNvPr id="29" name="Text 27"/>
          <p:cNvSpPr/>
          <p:nvPr/>
        </p:nvSpPr>
        <p:spPr>
          <a:xfrm>
            <a:off x="822960" y="50749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  Ciclo que vas a repetir todo el curso: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22960" y="54406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Editar en Sublime  →  Guardar  →  Copiar todo  →  Pegar en la Consola  →  Enter  →  Ver el resultado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de JavaScript · desde PSeInt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0B1F3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ENTORNO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Opción 2 · Abrir con el navegador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662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Consola no es la única forma. Con un archivo “loader” que armás una sola vez, después simplemente hacés doble clic para ejecutar.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2926080" cy="365760"/>
          </a:xfrm>
          <a:prstGeom prst="roundRect">
            <a:avLst>
              <a:gd name="adj" fmla="val 50000"/>
            </a:avLst>
          </a:prstGeom>
          <a:solidFill>
            <a:srgbClr val="E9ECF5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8745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662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Opción 1 · Consola (ya vista)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11880" y="1874520"/>
            <a:ext cx="3291840" cy="365760"/>
          </a:xfrm>
          <a:prstGeom prst="roundRect">
            <a:avLst>
              <a:gd name="adj" fmla="val 50000"/>
            </a:avLst>
          </a:prstGeom>
          <a:solidFill>
            <a:srgbClr val="0B1F3A"/>
          </a:solidFill>
          <a:ln/>
        </p:spPr>
      </p:sp>
      <p:sp>
        <p:nvSpPr>
          <p:cNvPr id="9" name="Text 7"/>
          <p:cNvSpPr/>
          <p:nvPr/>
        </p:nvSpPr>
        <p:spPr>
          <a:xfrm>
            <a:off x="3611880" y="18745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Opción 2 · Abrir con el navegador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423160"/>
            <a:ext cx="5394960" cy="2331720"/>
          </a:xfrm>
          <a:prstGeom prst="roundRect">
            <a:avLst>
              <a:gd name="adj" fmla="val 4706"/>
            </a:avLst>
          </a:prstGeom>
          <a:solidFill>
            <a:srgbClr val="1E1E2E"/>
          </a:solidFill>
          <a:ln w="12700">
            <a:solidFill>
              <a:srgbClr val="000000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49808" y="2587752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2" name="Shape 10"/>
          <p:cNvSpPr/>
          <p:nvPr/>
        </p:nvSpPr>
        <p:spPr>
          <a:xfrm>
            <a:off x="950976" y="2587752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3" name="Shape 11"/>
          <p:cNvSpPr/>
          <p:nvPr/>
        </p:nvSpPr>
        <p:spPr>
          <a:xfrm>
            <a:off x="1152144" y="2587752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4" name="Text 12"/>
          <p:cNvSpPr/>
          <p:nvPr/>
        </p:nvSpPr>
        <p:spPr>
          <a:xfrm>
            <a:off x="1371600" y="2404872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A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ejecutar.html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22960" y="2788920"/>
            <a:ext cx="48463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&lt;!DOCTYPE html&gt;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&lt;html&gt;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&lt;body&gt;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&lt;script src="saludo.js"&gt;&lt;/script&gt;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&lt;/body&gt;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&lt;/html&gt;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892040"/>
            <a:ext cx="5394960" cy="1005840"/>
          </a:xfrm>
          <a:prstGeom prst="roundRect">
            <a:avLst>
              <a:gd name="adj" fmla="val 7273"/>
            </a:avLst>
          </a:prstGeom>
          <a:solidFill>
            <a:srgbClr val="FFF4E5"/>
          </a:solidFill>
          <a:ln w="12700">
            <a:solidFill>
              <a:srgbClr val="F3D9A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5010912"/>
            <a:ext cx="4937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 smtClean="0">
                <a:solidFill>
                  <a:srgbClr val="8A4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</a:t>
            </a:r>
            <a:r>
              <a:rPr lang="en-US" sz="1100" dirty="0">
                <a:solidFill>
                  <a:srgbClr val="8A4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archivo se crea UNA sola vez y nunca se edita. Solo cambiás el nombre del .js del src según el ejercicio.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217920" y="2423160"/>
            <a:ext cx="5394960" cy="3474720"/>
          </a:xfrm>
          <a:prstGeom prst="roundRect">
            <a:avLst>
              <a:gd name="adj" fmla="val 2632"/>
            </a:avLst>
          </a:prstGeom>
          <a:solidFill>
            <a:srgbClr val="0B1F3A"/>
          </a:solidFill>
          <a:ln/>
        </p:spPr>
      </p:sp>
      <p:sp>
        <p:nvSpPr>
          <p:cNvPr id="19" name="Text 17"/>
          <p:cNvSpPr/>
          <p:nvPr/>
        </p:nvSpPr>
        <p:spPr>
          <a:xfrm>
            <a:off x="6492240" y="26517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vez que querés probar: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492240" y="3246120"/>
            <a:ext cx="457200" cy="457200"/>
          </a:xfrm>
          <a:prstGeom prst="ellipse">
            <a:avLst/>
          </a:prstGeom>
          <a:solidFill>
            <a:srgbClr val="F7DF1E"/>
          </a:solidFill>
          <a:ln/>
        </p:spPr>
      </p:sp>
      <p:sp>
        <p:nvSpPr>
          <p:cNvPr id="21" name="Text 19"/>
          <p:cNvSpPr/>
          <p:nvPr/>
        </p:nvSpPr>
        <p:spPr>
          <a:xfrm>
            <a:off x="6492240" y="3246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132320" y="324612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3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Editá y guardá tu .js en Sublime Text.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492240" y="3904488"/>
            <a:ext cx="457200" cy="457200"/>
          </a:xfrm>
          <a:prstGeom prst="ellipse">
            <a:avLst/>
          </a:prstGeom>
          <a:solidFill>
            <a:srgbClr val="F7DF1E"/>
          </a:solidFill>
          <a:ln/>
        </p:spPr>
      </p:sp>
      <p:sp>
        <p:nvSpPr>
          <p:cNvPr id="24" name="Text 22"/>
          <p:cNvSpPr/>
          <p:nvPr/>
        </p:nvSpPr>
        <p:spPr>
          <a:xfrm>
            <a:off x="6492240" y="39044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132320" y="3904488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3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Doble clic en ejecutar.html (o F5 si ya está abierto).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492240" y="4562856"/>
            <a:ext cx="457200" cy="457200"/>
          </a:xfrm>
          <a:prstGeom prst="ellipse">
            <a:avLst/>
          </a:prstGeom>
          <a:solidFill>
            <a:srgbClr val="F7DF1E"/>
          </a:solidFill>
          <a:ln/>
        </p:spPr>
      </p:sp>
      <p:sp>
        <p:nvSpPr>
          <p:cNvPr id="27" name="Text 25"/>
          <p:cNvSpPr/>
          <p:nvPr/>
        </p:nvSpPr>
        <p:spPr>
          <a:xfrm>
            <a:off x="6492240" y="45628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132320" y="4562856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3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prompt() y alert() aparecen apenas carga la página.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92240" y="5266944"/>
            <a:ext cx="4846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i="1" dirty="0">
                <a:solidFill>
                  <a:srgbClr val="C7C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Recordá: un .js suelto sigue sin ejecutarse solo. Este loader es lo que hace que “abrir con el navegador” funcione de verdad.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de JavaScript · desde PSeInt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· Saludo con nombre y edad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662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mismo archivo .js, probado de las dos formas que ya conocés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7498080" cy="4983480"/>
          </a:xfrm>
          <a:prstGeom prst="roundRect">
            <a:avLst>
              <a:gd name="adj" fmla="val 2202"/>
            </a:avLst>
          </a:prstGeom>
          <a:solidFill>
            <a:srgbClr val="1E1E2E"/>
          </a:solidFill>
          <a:ln w="12700">
            <a:solidFill>
              <a:srgbClr val="000000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490472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6" name="Shape 4"/>
          <p:cNvSpPr/>
          <p:nvPr/>
        </p:nvSpPr>
        <p:spPr>
          <a:xfrm>
            <a:off x="950976" y="1490472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7" name="Shape 5"/>
          <p:cNvSpPr/>
          <p:nvPr/>
        </p:nvSpPr>
        <p:spPr>
          <a:xfrm>
            <a:off x="1152144" y="1490472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8" name="Text 6"/>
          <p:cNvSpPr/>
          <p:nvPr/>
        </p:nvSpPr>
        <p:spPr>
          <a:xfrm>
            <a:off x="1371600" y="130759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A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saludo.js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1783080"/>
            <a:ext cx="6949440" cy="4343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7FB3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1. Pedimos el nombre del usuario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nombre = prompt("¿Cuál es tu nombre?");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7FB3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2. Pedimos la edad (llega como texto: hay que convertirla)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edad = Number(prompt("¿Cuántos años tenés?"));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7FB3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3. Armamos el saludo combinando texto y número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alert("¡Hola " + nombre + "! Tenés " + edad + " años. ¡Un gusto saludarte!");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412480" y="1325880"/>
            <a:ext cx="3200400" cy="498348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3E6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95360" y="155448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 smtClean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Probalo </a:t>
            </a: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las 2 formas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595360" y="1965960"/>
            <a:ext cx="2834640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📟 Por Consola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Copiá todo (Ctrl+A, Ctrl+C) y pegalo en la Consola (F12). Enter.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Por archivo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ejecutar.html apuntando a saludo.js, doble clic sobre ejecutar.html.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de JavaScript · desde PSeInt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0B1F3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Equivalencias: PSeInt vs. JavaScript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662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misma lógica que ya conocés. Solo cambian las palabras y los símbolos.</a:t>
            </a:r>
            <a:endParaRPr lang="en-US" sz="13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74520"/>
          <a:ext cx="11064240" cy="448056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97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89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00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Acción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PSeInt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JavaScript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DF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Definir variable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6628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Definir nombre Como Cadena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B1F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let nombre;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Leer dato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6628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Leer nombre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B1F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let nombre = prompt("...");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Mostrar en pantalla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6628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Escribir "Hola", nombre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B1F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alert("Hola " + nombre);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Condicional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6628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Si ... Entonces ... FinSi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B1F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if (...) { ... }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Selección múltiple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6628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Según opcion Hacer ... FinSegun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B1F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switch (opcion) { case: ... break; }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Bucle mientras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6628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Mientras cond Hacer ... FinMientras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B1F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while (cond) { ... }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Función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6628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Funcion r = Sumar(a,b) ... FinFuncion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B1F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function sumar(a,b){ return a+b; }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de JavaScript · desde PSeInt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10312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01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22960" y="2651760"/>
            <a:ext cx="10241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y entrada de datos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22960" y="397764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7C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let, const, prompt() y alert() — la base de todo programa interactivo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1965960"/>
            <a:ext cx="502920" cy="73152"/>
          </a:xfrm>
          <a:prstGeom prst="roundRect">
            <a:avLst>
              <a:gd name="adj" fmla="val 50000"/>
            </a:avLst>
          </a:prstGeom>
          <a:solidFill>
            <a:srgbClr val="F7DF1E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592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de JavaScript · desde PSeInt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0B1F3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Declarar variables y hablar con el usuario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5394960" cy="429768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12700">
            <a:solidFill>
              <a:srgbClr val="E3E6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78308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 y  const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822960" y="2331720"/>
            <a:ext cx="4846320" cy="1371600"/>
          </a:xfrm>
          <a:prstGeom prst="roundRect">
            <a:avLst>
              <a:gd name="adj" fmla="val 8000"/>
            </a:avLst>
          </a:prstGeom>
          <a:solidFill>
            <a:srgbClr val="1E1E2E"/>
          </a:solidFill>
          <a:ln w="12700">
            <a:solidFill>
              <a:srgbClr val="000000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024128" y="2496312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9" name="Shape 7"/>
          <p:cNvSpPr/>
          <p:nvPr/>
        </p:nvSpPr>
        <p:spPr>
          <a:xfrm>
            <a:off x="1225296" y="2496312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0" name="Shape 8"/>
          <p:cNvSpPr/>
          <p:nvPr/>
        </p:nvSpPr>
        <p:spPr>
          <a:xfrm>
            <a:off x="1426464" y="2496312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1" name="Text 9"/>
          <p:cNvSpPr/>
          <p:nvPr/>
        </p:nvSpPr>
        <p:spPr>
          <a:xfrm>
            <a:off x="1051560" y="2651760"/>
            <a:ext cx="43891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edad = 25;    // PUEDE cambiar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PI = 3.1416; // NO puede cambiar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22960" y="3931920"/>
            <a:ext cx="48463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Regla práctica: si vas a leer un dato con prompt() y guardarlo, usá let. Si es un valor fijo, usá const.</a:t>
            </a:r>
            <a:endParaRPr lang="en-US" sz="1250" dirty="0"/>
          </a:p>
          <a:p>
            <a:pPr marL="0" indent="0">
              <a:lnSpc>
                <a:spcPct val="130000"/>
              </a:lnSpc>
              <a:buNone/>
            </a:pPr>
            <a:endParaRPr lang="en-US" sz="12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diferencia de PSeInt, no hace falta declarar el tipo (Cadena, Entero): JS lo detecta solo (tipado dinámico).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72200" y="1600200"/>
            <a:ext cx="5440680" cy="4297680"/>
          </a:xfrm>
          <a:prstGeom prst="roundRect">
            <a:avLst>
              <a:gd name="adj" fmla="val 2128"/>
            </a:avLst>
          </a:prstGeom>
          <a:solidFill>
            <a:srgbClr val="0B1F3A"/>
          </a:solidFill>
          <a:ln/>
        </p:spPr>
      </p:sp>
      <p:sp>
        <p:nvSpPr>
          <p:cNvPr id="14" name="Text 12"/>
          <p:cNvSpPr/>
          <p:nvPr/>
        </p:nvSpPr>
        <p:spPr>
          <a:xfrm>
            <a:off x="6446520" y="178308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prompt()  y  alert()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446520" y="233172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prompt("mensaje")</a:t>
            </a: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7C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Pide un dato al usuario. Equivale a Leer.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46520" y="320040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alert("mensaje")</a:t>
            </a: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7C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Muestra un mensaje. Equivale a Escribir.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46520" y="4160520"/>
            <a:ext cx="4846320" cy="1463040"/>
          </a:xfrm>
          <a:prstGeom prst="roundRect">
            <a:avLst>
              <a:gd name="adj" fmla="val 7500"/>
            </a:avLst>
          </a:prstGeom>
          <a:solidFill>
            <a:srgbClr val="1E1E2E"/>
          </a:solidFill>
          <a:ln w="12700">
            <a:solidFill>
              <a:srgbClr val="000000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647688" y="4325112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9" name="Shape 17"/>
          <p:cNvSpPr/>
          <p:nvPr/>
        </p:nvSpPr>
        <p:spPr>
          <a:xfrm>
            <a:off x="6848856" y="4325112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20" name="Shape 18"/>
          <p:cNvSpPr/>
          <p:nvPr/>
        </p:nvSpPr>
        <p:spPr>
          <a:xfrm>
            <a:off x="7050024" y="4325112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1" name="Text 19"/>
          <p:cNvSpPr/>
          <p:nvPr/>
        </p:nvSpPr>
        <p:spPr>
          <a:xfrm>
            <a:off x="6675120" y="4480560"/>
            <a:ext cx="43891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nombre = prompt("¿Cómo te llamas?");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alert("Bienvenido/a, " + nombre);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de JavaScript · desde PSeInt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0B1F3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prompt() siempre devuelve texto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662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detalle más importante de este módulo — y la trampa #1 de todo principiante.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5486400" cy="1965960"/>
          </a:xfrm>
          <a:prstGeom prst="roundRect">
            <a:avLst>
              <a:gd name="adj" fmla="val 5581"/>
            </a:avLst>
          </a:prstGeom>
          <a:solidFill>
            <a:srgbClr val="1E1E2E"/>
          </a:solidFill>
          <a:ln w="12700">
            <a:solidFill>
              <a:srgbClr val="000000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49808" y="2039112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6"/>
          <p:cNvSpPr/>
          <p:nvPr/>
        </p:nvSpPr>
        <p:spPr>
          <a:xfrm>
            <a:off x="950976" y="2039112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7"/>
          <p:cNvSpPr/>
          <p:nvPr/>
        </p:nvSpPr>
        <p:spPr>
          <a:xfrm>
            <a:off x="1152144" y="2039112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8"/>
          <p:cNvSpPr/>
          <p:nvPr/>
        </p:nvSpPr>
        <p:spPr>
          <a:xfrm>
            <a:off x="1371600" y="1856232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A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problema.js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233172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n1 = prompt("Primer número:");  // "5"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n2 = prompt("Segundo número:"); // "3"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alert(n1 + n2); // ¡"53"! Se pegan los textos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4069080"/>
            <a:ext cx="5486400" cy="1965960"/>
          </a:xfrm>
          <a:prstGeom prst="roundRect">
            <a:avLst>
              <a:gd name="adj" fmla="val 5581"/>
            </a:avLst>
          </a:prstGeom>
          <a:solidFill>
            <a:srgbClr val="1E1E2E"/>
          </a:solidFill>
          <a:ln w="12700">
            <a:solidFill>
              <a:srgbClr val="000000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49808" y="4233672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4" name="Shape 12"/>
          <p:cNvSpPr/>
          <p:nvPr/>
        </p:nvSpPr>
        <p:spPr>
          <a:xfrm>
            <a:off x="950976" y="4233672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5" name="Shape 13"/>
          <p:cNvSpPr/>
          <p:nvPr/>
        </p:nvSpPr>
        <p:spPr>
          <a:xfrm>
            <a:off x="1152144" y="4233672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6" name="Text 14"/>
          <p:cNvSpPr/>
          <p:nvPr/>
        </p:nvSpPr>
        <p:spPr>
          <a:xfrm>
            <a:off x="1371600" y="4050792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A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solucion.js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49808" y="4526280"/>
            <a:ext cx="519379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n1 = Number(prompt("Primer </a:t>
            </a:r>
            <a:r>
              <a:rPr lang="en-US" sz="1250" dirty="0" err="1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número</a:t>
            </a:r>
            <a:r>
              <a:rPr lang="en-US" sz="1250" dirty="0" smtClean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:")); //(</a:t>
            </a:r>
            <a:r>
              <a:rPr lang="en-US" sz="1250" dirty="0" err="1" smtClean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ej</a:t>
            </a:r>
            <a:r>
              <a:rPr lang="en-US" sz="1250" dirty="0" smtClean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3)</a:t>
            </a:r>
            <a:endParaRPr lang="en-US" sz="1250" dirty="0"/>
          </a:p>
          <a:p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n2 = Number(prompt("Segundo </a:t>
            </a:r>
            <a:r>
              <a:rPr lang="en-US" sz="1250" dirty="0" err="1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número</a:t>
            </a:r>
            <a:r>
              <a:rPr lang="en-US" sz="1250" dirty="0" smtClean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:"));//(</a:t>
            </a:r>
            <a:r>
              <a:rPr lang="en-US" sz="1250" dirty="0" err="1" smtClean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ej</a:t>
            </a:r>
            <a:r>
              <a:rPr lang="en-US" sz="1250" dirty="0" smtClean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5)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alert(n1 + n2); // 8  -&gt; ¡correcto!</a:t>
            </a:r>
            <a:endParaRPr lang="en-US" sz="125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9360" y="1874520"/>
          <a:ext cx="5303520" cy="274320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Función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Ejemplo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DF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B1F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Number()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Entero o decimal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6628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Number("3.5") → 3.5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B1F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parseInt()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Entero (descarta decimales)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6628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parseInt("3.5") → 3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B1F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parseFloat()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Decimal explícito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6628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parseFloat("3.5") → 3.5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9" name="Shape 16"/>
          <p:cNvSpPr/>
          <p:nvPr/>
        </p:nvSpPr>
        <p:spPr>
          <a:xfrm>
            <a:off x="6309360" y="4800600"/>
            <a:ext cx="5303520" cy="1234440"/>
          </a:xfrm>
          <a:prstGeom prst="roundRect">
            <a:avLst>
              <a:gd name="adj" fmla="val 7407"/>
            </a:avLst>
          </a:prstGeom>
          <a:solidFill>
            <a:srgbClr val="0B1F3A"/>
          </a:solidFill>
          <a:ln/>
        </p:spPr>
      </p:sp>
      <p:sp>
        <p:nvSpPr>
          <p:cNvPr id="20" name="Text 17"/>
          <p:cNvSpPr/>
          <p:nvPr/>
        </p:nvSpPr>
        <p:spPr>
          <a:xfrm>
            <a:off x="6537960" y="4956048"/>
            <a:ext cx="4846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i="1" dirty="0">
                <a:solidFill>
                  <a:srgbClr val="E3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PSeInt esto era invisible: el intérprete lo resolvía solo. En JS, vos sos responsable de convertir el dato.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de JavaScript · desde PSeInt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1 · Saludo personalizado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7680960" cy="5212080"/>
          </a:xfrm>
          <a:prstGeom prst="roundRect">
            <a:avLst>
              <a:gd name="adj" fmla="val 2105"/>
            </a:avLst>
          </a:prstGeom>
          <a:solidFill>
            <a:srgbClr val="1E1E2E"/>
          </a:solidFill>
          <a:ln w="12700">
            <a:solidFill>
              <a:srgbClr val="000000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49808" y="1261872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5" name="Shape 3"/>
          <p:cNvSpPr/>
          <p:nvPr/>
        </p:nvSpPr>
        <p:spPr>
          <a:xfrm>
            <a:off x="950976" y="1261872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6" name="Shape 4"/>
          <p:cNvSpPr/>
          <p:nvPr/>
        </p:nvSpPr>
        <p:spPr>
          <a:xfrm>
            <a:off x="1152144" y="1261872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1078992"/>
            <a:ext cx="6583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A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ejemplo1.js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713232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7FB3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1. Pedimos el nombre. prompt() devuelve texto (String).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nombre = prompt("¿Cuál es tu nombre?");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7FB3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2. Pedimos la edad (también llega como texto).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edadTexto = prompt("¿Cuántos años tenés?");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7FB3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3. Convertimos la edad a número para poder operar.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edad = Number(edadTexto);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7FB3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4. Calculamos el año de nacimiento aproximado.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anioNacimiento = 2026 - edad;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7FB3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5. Mostramos el resultado (+ concatena texto y número).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alert("Hola " + nombre + ", naciste en " + anioNacimiento);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595360" y="1097280"/>
            <a:ext cx="3017520" cy="521208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2700">
            <a:solidFill>
              <a:srgbClr val="E3E6E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778240" y="13258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Para probar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778240" y="1737360"/>
            <a:ext cx="265176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Guardá el archivo, copiá todo (Ctrl+A, Ctrl+C) y pegalo en la Consola del navegador (F12) para verlo funcionar.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Notá el uso de + para unir textos y números en un solo mensaje.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de JavaScript · desde PSeInt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2 · Suma: incorrecta vs. correcta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7680960" cy="5212080"/>
          </a:xfrm>
          <a:prstGeom prst="roundRect">
            <a:avLst>
              <a:gd name="adj" fmla="val 2105"/>
            </a:avLst>
          </a:prstGeom>
          <a:solidFill>
            <a:srgbClr val="1E1E2E"/>
          </a:solidFill>
          <a:ln w="12700">
            <a:solidFill>
              <a:srgbClr val="000000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49808" y="1261872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5" name="Shape 3"/>
          <p:cNvSpPr/>
          <p:nvPr/>
        </p:nvSpPr>
        <p:spPr>
          <a:xfrm>
            <a:off x="950976" y="1261872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6" name="Shape 4"/>
          <p:cNvSpPr/>
          <p:nvPr/>
        </p:nvSpPr>
        <p:spPr>
          <a:xfrm>
            <a:off x="1152144" y="1261872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1078992"/>
            <a:ext cx="6583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A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ejemplo2.js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713232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7FB3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--- Versión INCORRECTA (solo para comparar) ---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a = prompt("Ingresá el primer número:");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b = prompt("Ingresá el segundo número:");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7FB3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alert(a + b);  -&gt; concatenaría: "5" + "3" = "53"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7FB3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--- Versión CORRECTA </a:t>
            </a:r>
            <a:r>
              <a:rPr lang="en-US" sz="1250" dirty="0" smtClean="0">
                <a:solidFill>
                  <a:srgbClr val="7FB3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</a:t>
            </a:r>
          </a:p>
          <a:p>
            <a:pPr>
              <a:lnSpc>
                <a:spcPct val="112000"/>
              </a:lnSpc>
            </a:pPr>
            <a:r>
              <a:rPr lang="en-US" sz="1250" dirty="0">
                <a:solidFill>
                  <a:srgbClr val="7FB3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</a:t>
            </a:r>
            <a:r>
              <a:rPr lang="en-US" sz="1250" dirty="0" smtClean="0">
                <a:solidFill>
                  <a:srgbClr val="7FB3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 </a:t>
            </a:r>
            <a:r>
              <a:rPr lang="en-US" sz="1250" dirty="0" err="1" smtClean="0">
                <a:solidFill>
                  <a:srgbClr val="7FB3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Opcion</a:t>
            </a:r>
            <a:r>
              <a:rPr lang="en-US" sz="1250" dirty="0" smtClean="0">
                <a:solidFill>
                  <a:srgbClr val="7FB3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 </a:t>
            </a:r>
          </a:p>
          <a:p>
            <a:pPr>
              <a:lnSpc>
                <a:spcPct val="112000"/>
              </a:lnSpc>
            </a:pPr>
            <a:r>
              <a:rPr lang="en-US" sz="1250" dirty="0" smtClean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</a:t>
            </a: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= </a:t>
            </a:r>
            <a:r>
              <a:rPr lang="en-US" sz="1250" dirty="0" smtClean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Number(prompt</a:t>
            </a: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("</a:t>
            </a:r>
            <a:r>
              <a:rPr lang="en-US" sz="1250" dirty="0" err="1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Ingresá</a:t>
            </a: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el primer </a:t>
            </a:r>
            <a:r>
              <a:rPr lang="en-US" sz="1250" dirty="0" err="1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número</a:t>
            </a:r>
            <a:r>
              <a:rPr lang="en-US" sz="1250" dirty="0" smtClean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:"));</a:t>
            </a:r>
            <a:endParaRPr lang="en-US" sz="1250" dirty="0"/>
          </a:p>
          <a:p>
            <a:pPr>
              <a:lnSpc>
                <a:spcPct val="112000"/>
              </a:lnSpc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b = Number(</a:t>
            </a:r>
            <a:r>
              <a:rPr lang="en-US" sz="1250" dirty="0" smtClean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</a:t>
            </a: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("</a:t>
            </a:r>
            <a:r>
              <a:rPr lang="en-US" sz="1250" dirty="0" err="1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Ingresá</a:t>
            </a: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el </a:t>
            </a:r>
            <a:r>
              <a:rPr lang="en-US" sz="1250" dirty="0" err="1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segundo</a:t>
            </a: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50" dirty="0" err="1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número</a:t>
            </a:r>
            <a:r>
              <a:rPr lang="en-US" sz="1250" dirty="0" smtClean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:"));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endParaRPr lang="en-US" sz="1250" dirty="0">
              <a:solidFill>
                <a:srgbClr val="7FB37A"/>
              </a:solidFill>
              <a:latin typeface="Courier New" pitchFamily="34" charset="0"/>
              <a:cs typeface="Courier New" pitchFamily="34" charset="-120"/>
            </a:endParaRPr>
          </a:p>
          <a:p>
            <a:pPr>
              <a:lnSpc>
                <a:spcPct val="112000"/>
              </a:lnSpc>
            </a:pPr>
            <a:r>
              <a:rPr lang="en-US" sz="1250" dirty="0">
                <a:solidFill>
                  <a:srgbClr val="7FB3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--- </a:t>
            </a:r>
            <a:r>
              <a:rPr lang="en-US" sz="1250" dirty="0" err="1">
                <a:solidFill>
                  <a:srgbClr val="7FB3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Opcion</a:t>
            </a:r>
            <a:r>
              <a:rPr lang="en-US" sz="1250" dirty="0">
                <a:solidFill>
                  <a:srgbClr val="7FB3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50" dirty="0" smtClean="0">
                <a:solidFill>
                  <a:srgbClr val="7FB3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numA = Number(a); // convertimos a número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numB = Number(b); // ídem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suma = numA + numB; // ahora sí es matemática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alert("La suma es: " + suma);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595360" y="1097280"/>
            <a:ext cx="3017520" cy="521208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2700">
            <a:solidFill>
              <a:srgbClr val="E3E6E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778240" y="13258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Trampa común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778240" y="1737360"/>
            <a:ext cx="265176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Comparar ambas versiones ayuda a visualizar el error de concatenación antes de aplicar la solución.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el error #1 de quienes recién llegan de PSeInt.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de JavaScript · desde PSeInt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10312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02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22960" y="2651760"/>
            <a:ext cx="10241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Estructuras de control de flujo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22960" y="397764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7C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/ else, switch y while — decisiones y repeticiones con prompt()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1965960"/>
            <a:ext cx="502920" cy="73152"/>
          </a:xfrm>
          <a:prstGeom prst="roundRect">
            <a:avLst>
              <a:gd name="adj" fmla="val 50000"/>
            </a:avLst>
          </a:prstGeom>
          <a:solidFill>
            <a:srgbClr val="F7DF1E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592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de JavaScript · desde PSeInt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0B1F3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Condicionales y operadores lógicos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6400800" cy="2743200"/>
          </a:xfrm>
          <a:prstGeom prst="roundRect">
            <a:avLst>
              <a:gd name="adj" fmla="val 4000"/>
            </a:avLst>
          </a:prstGeom>
          <a:solidFill>
            <a:srgbClr val="1E1E2E"/>
          </a:solidFill>
          <a:ln w="12700">
            <a:solidFill>
              <a:srgbClr val="000000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1764792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7" name="Shape 5"/>
          <p:cNvSpPr/>
          <p:nvPr/>
        </p:nvSpPr>
        <p:spPr>
          <a:xfrm>
            <a:off x="950976" y="1764792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8" name="Shape 6"/>
          <p:cNvSpPr/>
          <p:nvPr/>
        </p:nvSpPr>
        <p:spPr>
          <a:xfrm>
            <a:off x="1152144" y="1764792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9" name="Text 7"/>
          <p:cNvSpPr/>
          <p:nvPr/>
        </p:nvSpPr>
        <p:spPr>
          <a:xfrm>
            <a:off x="1371600" y="1581912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A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condicionales.js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2011680"/>
            <a:ext cx="58521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edad = Number(prompt("Ingresá tu edad:"));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(edad &gt;= 18) {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alert("Sos mayor de edad.");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else if (edad &gt;= 13) {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alert("Sos adolescente.");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else {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alert("Sos menor de edad.");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223760" y="1600200"/>
          <a:ext cx="4389120" cy="169164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291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PSeInt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Significado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DF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291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Y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B1F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&amp;&amp;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ambas verdaderas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291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B1F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||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 menos una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291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No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B1F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!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negación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" name="Shape 9"/>
          <p:cNvSpPr/>
          <p:nvPr/>
        </p:nvSpPr>
        <p:spPr>
          <a:xfrm>
            <a:off x="7223760" y="3474720"/>
            <a:ext cx="4389120" cy="868680"/>
          </a:xfrm>
          <a:prstGeom prst="roundRect">
            <a:avLst>
              <a:gd name="adj" fmla="val 8421"/>
            </a:avLst>
          </a:prstGeom>
          <a:solidFill>
            <a:srgbClr val="FFF4E5"/>
          </a:solidFill>
          <a:ln w="12700">
            <a:solidFill>
              <a:srgbClr val="F3D9A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406640" y="3566160"/>
            <a:ext cx="4023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8A4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Para comparar valores se usa === (triple igual), no un solo =, que es de asignación.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7223760" y="4526280"/>
            <a:ext cx="4389120" cy="1737360"/>
          </a:xfrm>
          <a:prstGeom prst="roundRect">
            <a:avLst>
              <a:gd name="adj" fmla="val 6316"/>
            </a:avLst>
          </a:prstGeom>
          <a:solidFill>
            <a:srgbClr val="1E1E2E"/>
          </a:solidFill>
          <a:ln w="12700">
            <a:solidFill>
              <a:srgbClr val="000000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7424928" y="4690872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1" name="Shape 13"/>
          <p:cNvSpPr/>
          <p:nvPr/>
        </p:nvSpPr>
        <p:spPr>
          <a:xfrm>
            <a:off x="7626096" y="4690872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7" name="Shape 14"/>
          <p:cNvSpPr/>
          <p:nvPr/>
        </p:nvSpPr>
        <p:spPr>
          <a:xfrm>
            <a:off x="7827264" y="4690872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8" name="Text 15"/>
          <p:cNvSpPr/>
          <p:nvPr/>
        </p:nvSpPr>
        <p:spPr>
          <a:xfrm>
            <a:off x="8046720" y="450799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A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logicos.js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7452360" y="4892040"/>
            <a:ext cx="39319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(edad &gt;= 18 &amp;&amp; entrada === "si") {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alert("Podés ingresar.");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else { alert("No cumplís."); }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de JavaScript · desde PSeInt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0B1F3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Selección múltiple: switch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662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Equivale a Según...Hacer...FinSegun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6217920" cy="4114800"/>
          </a:xfrm>
          <a:prstGeom prst="roundRect">
            <a:avLst>
              <a:gd name="adj" fmla="val 2667"/>
            </a:avLst>
          </a:prstGeom>
          <a:solidFill>
            <a:srgbClr val="1E1E2E"/>
          </a:solidFill>
          <a:ln w="12700">
            <a:solidFill>
              <a:srgbClr val="000000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49808" y="1993392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6"/>
          <p:cNvSpPr/>
          <p:nvPr/>
        </p:nvSpPr>
        <p:spPr>
          <a:xfrm>
            <a:off x="950976" y="1993392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7"/>
          <p:cNvSpPr/>
          <p:nvPr/>
        </p:nvSpPr>
        <p:spPr>
          <a:xfrm>
            <a:off x="1152144" y="1993392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8"/>
          <p:cNvSpPr/>
          <p:nvPr/>
        </p:nvSpPr>
        <p:spPr>
          <a:xfrm>
            <a:off x="1371600" y="1810512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A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switch-dias.js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2240280"/>
            <a:ext cx="566928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dia = Number(prompt("Día (1 al 7):"));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nombreDia;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switch (dia) {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case 1: nombreDia = "Lunes"; break;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case 2: nombreDia = "Martes"; break;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7FB3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... casos 3 a 6 ...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case 7: nombreDia = "Domingo"; break;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default: nombreDia = "Inválido";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alert("Día: " + nombreDia);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040880" y="1828800"/>
            <a:ext cx="4572000" cy="4114800"/>
          </a:xfrm>
          <a:prstGeom prst="roundRect">
            <a:avLst>
              <a:gd name="adj" fmla="val 2222"/>
            </a:avLst>
          </a:prstGeom>
          <a:solidFill>
            <a:srgbClr val="0B1F3A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0" y="205740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La importancia del break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315200" y="2606040"/>
            <a:ext cx="402336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E3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PSeInt cada opción de Según se evalúa de forma independiente: corta automáticamente.</a:t>
            </a:r>
            <a:endParaRPr lang="en-US" sz="1250" dirty="0"/>
          </a:p>
          <a:p>
            <a:pPr marL="0" indent="0">
              <a:lnSpc>
                <a:spcPct val="135000"/>
              </a:lnSpc>
              <a:buNone/>
            </a:pPr>
            <a:endParaRPr lang="en-US" sz="12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E3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JS NO es automático. Sin break, el código sigue ejecutando los case siguientes aunque no coincidan ("fall-through").</a:t>
            </a:r>
            <a:endParaRPr lang="en-US" sz="1250" dirty="0"/>
          </a:p>
          <a:p>
            <a:pPr marL="0" indent="0">
              <a:lnSpc>
                <a:spcPct val="135000"/>
              </a:lnSpc>
              <a:buNone/>
            </a:pPr>
            <a:endParaRPr lang="en-US" sz="12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E3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break le dice a JS: “ya encontré la opción correcta, salí del switch”.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de JavaScript · desde PSeInt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Bucle while para validar entradas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662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Equivale a Mientras...Hacer...FinMientras — ideal para repetir una pregunta hasta recibir un dato válido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7680960" cy="4983480"/>
          </a:xfrm>
          <a:prstGeom prst="roundRect">
            <a:avLst>
              <a:gd name="adj" fmla="val 2202"/>
            </a:avLst>
          </a:prstGeom>
          <a:solidFill>
            <a:srgbClr val="1E1E2E"/>
          </a:solidFill>
          <a:ln w="12700">
            <a:solidFill>
              <a:srgbClr val="000000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490472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6" name="Shape 4"/>
          <p:cNvSpPr/>
          <p:nvPr/>
        </p:nvSpPr>
        <p:spPr>
          <a:xfrm>
            <a:off x="950976" y="1490472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7" name="Shape 5"/>
          <p:cNvSpPr/>
          <p:nvPr/>
        </p:nvSpPr>
        <p:spPr>
          <a:xfrm>
            <a:off x="1152144" y="1490472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8" name="Text 6"/>
          <p:cNvSpPr/>
          <p:nvPr/>
        </p:nvSpPr>
        <p:spPr>
          <a:xfrm>
            <a:off x="1371600" y="1307592"/>
            <a:ext cx="6583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A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validacion-while.js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1783080"/>
            <a:ext cx="7132320" cy="4343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numero = Number(prompt("Ingresá un número mayor a 0:"));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(numero &lt;= 0) {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alert("Valor incorrecto. Debe ser mayor a 0.");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numero = Number(prompt("Ingresá un número mayor a 0:"));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alert("¡Gracias! Ingresaste: " + numero);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595360" y="1325880"/>
            <a:ext cx="3017520" cy="498348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2700">
            <a:solidFill>
              <a:srgbClr val="E3E6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778240" y="15544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Patrón clave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778240" y="1965960"/>
            <a:ext cx="2651760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pregunta una vez fuera del bucle, y dentro del while se vuelve a preguntar si la condición de error se sigue cumpliendo.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el mismo patrón de validación que ya usabas en PSeInt.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de JavaScript · desde PSeInt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10312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03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22960" y="2651760"/>
            <a:ext cx="10241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Funciones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22960" y="397764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7C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function, parámetros y return — reutilizando lógica con prompt() y alert()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1965960"/>
            <a:ext cx="502920" cy="73152"/>
          </a:xfrm>
          <a:prstGeom prst="roundRect">
            <a:avLst>
              <a:gd name="adj" fmla="val 50000"/>
            </a:avLst>
          </a:prstGeom>
          <a:solidFill>
            <a:srgbClr val="F7DF1E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592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de JavaScript · desde PSeInt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0B1F3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Declarar una función y usar return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5303520" cy="1737360"/>
          </a:xfrm>
          <a:prstGeom prst="roundRect">
            <a:avLst>
              <a:gd name="adj" fmla="val 6316"/>
            </a:avLst>
          </a:prstGeom>
          <a:solidFill>
            <a:srgbClr val="1E1E2E"/>
          </a:solidFill>
          <a:ln w="12700">
            <a:solidFill>
              <a:srgbClr val="000000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1764792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7" name="Shape 5"/>
          <p:cNvSpPr/>
          <p:nvPr/>
        </p:nvSpPr>
        <p:spPr>
          <a:xfrm>
            <a:off x="950976" y="1764792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8" name="Shape 6"/>
          <p:cNvSpPr/>
          <p:nvPr/>
        </p:nvSpPr>
        <p:spPr>
          <a:xfrm>
            <a:off x="1152144" y="1764792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9" name="Text 7"/>
          <p:cNvSpPr/>
          <p:nvPr/>
        </p:nvSpPr>
        <p:spPr>
          <a:xfrm>
            <a:off x="1371600" y="1581912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A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funcion.js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1965960"/>
            <a:ext cx="47548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sumar(a, b) {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resultado = a + b;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resultado;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520440"/>
            <a:ext cx="1371600" cy="384048"/>
          </a:xfrm>
          <a:prstGeom prst="roundRect">
            <a:avLst>
              <a:gd name="adj" fmla="val 19048"/>
            </a:avLst>
          </a:prstGeom>
          <a:solidFill>
            <a:srgbClr val="0B1F3A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52044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057400" y="3520440"/>
            <a:ext cx="3794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Palabra clave para declarar (como Funcion en PSeInt).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4023360"/>
            <a:ext cx="1371600" cy="384048"/>
          </a:xfrm>
          <a:prstGeom prst="roundRect">
            <a:avLst>
              <a:gd name="adj" fmla="val 19048"/>
            </a:avLst>
          </a:prstGeom>
          <a:solidFill>
            <a:srgbClr val="0B1F3A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402336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(a, b)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057400" y="4023360"/>
            <a:ext cx="3794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Parámetros que recibe (entradas de la función).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4526280"/>
            <a:ext cx="1371600" cy="384048"/>
          </a:xfrm>
          <a:prstGeom prst="roundRect">
            <a:avLst>
              <a:gd name="adj" fmla="val 19048"/>
            </a:avLst>
          </a:prstGeom>
          <a:solidFill>
            <a:srgbClr val="0B1F3A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452628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057400" y="4526280"/>
            <a:ext cx="3794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Devuelve un valor a quien la llamó (como resultado = en PSeInt).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172200" y="1600200"/>
            <a:ext cx="5440680" cy="4297680"/>
          </a:xfrm>
          <a:prstGeom prst="roundRect">
            <a:avLst>
              <a:gd name="adj" fmla="val 2128"/>
            </a:avLst>
          </a:prstGeom>
          <a:solidFill>
            <a:srgbClr val="0B1F3A"/>
          </a:solidFill>
          <a:ln/>
        </p:spPr>
      </p:sp>
      <p:sp>
        <p:nvSpPr>
          <p:cNvPr id="21" name="Text 19"/>
          <p:cNvSpPr/>
          <p:nvPr/>
        </p:nvSpPr>
        <p:spPr>
          <a:xfrm>
            <a:off x="6446520" y="178308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patrón que usamos siempre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446520" y="233172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3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prompt() por fuera de la función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446520" y="274320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3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Los datos se pasan como argumentos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446520" y="31546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3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La función calcula y hace return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446520" y="35661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3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alert() muestra lo que devolvió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446520" y="4023360"/>
            <a:ext cx="4846320" cy="1737360"/>
          </a:xfrm>
          <a:prstGeom prst="roundRect">
            <a:avLst>
              <a:gd name="adj" fmla="val 6316"/>
            </a:avLst>
          </a:prstGeom>
          <a:solidFill>
            <a:srgbClr val="1E1E2E"/>
          </a:solidFill>
          <a:ln w="12700">
            <a:solidFill>
              <a:srgbClr val="000000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647688" y="4187952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28" name="Shape 26"/>
          <p:cNvSpPr/>
          <p:nvPr/>
        </p:nvSpPr>
        <p:spPr>
          <a:xfrm>
            <a:off x="6848856" y="4187952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29" name="Shape 27"/>
          <p:cNvSpPr/>
          <p:nvPr/>
        </p:nvSpPr>
        <p:spPr>
          <a:xfrm>
            <a:off x="7050024" y="4187952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30" name="Text 28"/>
          <p:cNvSpPr/>
          <p:nvPr/>
        </p:nvSpPr>
        <p:spPr>
          <a:xfrm>
            <a:off x="6675120" y="434340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sumar(a, b) { return a + b; }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n1 = Number(prompt("N1:"));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n2 = Number(prompt("N2:"));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alert("Resultado: " + sumar(n1, n2));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de JavaScript · desde PSeInt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0B1F3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ejemplos progresivos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5440680" cy="4297680"/>
          </a:xfrm>
          <a:prstGeom prst="roundRect">
            <a:avLst>
              <a:gd name="adj" fmla="val 2553"/>
            </a:avLst>
          </a:prstGeom>
          <a:solidFill>
            <a:srgbClr val="1E1E2E"/>
          </a:solidFill>
          <a:ln w="12700">
            <a:solidFill>
              <a:srgbClr val="000000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1764792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7" name="Shape 5"/>
          <p:cNvSpPr/>
          <p:nvPr/>
        </p:nvSpPr>
        <p:spPr>
          <a:xfrm>
            <a:off x="950976" y="1764792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8" name="Shape 6"/>
          <p:cNvSpPr/>
          <p:nvPr/>
        </p:nvSpPr>
        <p:spPr>
          <a:xfrm>
            <a:off x="1152144" y="1764792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9" name="Text 7"/>
          <p:cNvSpPr/>
          <p:nvPr/>
        </p:nvSpPr>
        <p:spPr>
          <a:xfrm>
            <a:off x="1371600" y="1581912"/>
            <a:ext cx="4343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A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area-rectangulo.js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2011680"/>
            <a:ext cx="493776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7FB3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Recibe base y altura, devuelve el área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calcularArea(base, altura) {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base * altura;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base = Number(prompt("Base:"));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altura = Number(prompt("Altura:"));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area = calcularArea(base, altura);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alert("El área es: " + area);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172200" y="1600200"/>
            <a:ext cx="5440680" cy="4297680"/>
          </a:xfrm>
          <a:prstGeom prst="roundRect">
            <a:avLst>
              <a:gd name="adj" fmla="val 2553"/>
            </a:avLst>
          </a:prstGeom>
          <a:solidFill>
            <a:srgbClr val="1E1E2E"/>
          </a:solidFill>
          <a:ln w="12700">
            <a:solidFill>
              <a:srgbClr val="000000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373368" y="1764792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3" name="Shape 11"/>
          <p:cNvSpPr/>
          <p:nvPr/>
        </p:nvSpPr>
        <p:spPr>
          <a:xfrm>
            <a:off x="6574536" y="1764792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4" name="Shape 12"/>
          <p:cNvSpPr/>
          <p:nvPr/>
        </p:nvSpPr>
        <p:spPr>
          <a:xfrm>
            <a:off x="6775704" y="1764792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5" name="Text 13"/>
          <p:cNvSpPr/>
          <p:nvPr/>
        </p:nvSpPr>
        <p:spPr>
          <a:xfrm>
            <a:off x="6995160" y="1581912"/>
            <a:ext cx="4343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A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par-impar.js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46520" y="2011680"/>
            <a:ext cx="493776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7FB3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Recibe un número, devuelve un texto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esParOImpar(numero) {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(numero % 2 === 0) {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"par";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 else {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"impar";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n = Number(prompt("Número:"));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tipo = esParOImpar(n);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alert("El número " + n + " es " + tipo);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de JavaScript · desde PSeInt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10312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22960" y="2651760"/>
            <a:ext cx="10241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integrador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22960" y="397764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7C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caja de ahorro con menú, prompt(), while, switch, funciones y alert() — todo junto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1965960"/>
            <a:ext cx="502920" cy="73152"/>
          </a:xfrm>
          <a:prstGeom prst="roundRect">
            <a:avLst>
              <a:gd name="adj" fmla="val 50000"/>
            </a:avLst>
          </a:prstGeom>
          <a:solidFill>
            <a:srgbClr val="F7DF1E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592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de JavaScript · desde PSeInt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0B1F3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Objetivo: menú de caja de ahorro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662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único archivo caja-de-ahorro.js que combina todo lo aprendido. Lo vamos a construir en 3 etapas: probando en la Consola después de cada una.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2084832" cy="2011680"/>
          </a:xfrm>
          <a:prstGeom prst="roundRect">
            <a:avLst>
              <a:gd name="adj" fmla="val 4545"/>
            </a:avLst>
          </a:prstGeom>
          <a:solidFill>
            <a:srgbClr val="0B1F3A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606040"/>
            <a:ext cx="20848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prompt()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" y="3200400"/>
            <a:ext cx="181051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050" dirty="0">
                <a:solidFill>
                  <a:srgbClr val="C7C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Leer opciones y montos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816352" y="2286000"/>
            <a:ext cx="2084832" cy="2011680"/>
          </a:xfrm>
          <a:prstGeom prst="roundRect">
            <a:avLst>
              <a:gd name="adj" fmla="val 4545"/>
            </a:avLst>
          </a:prstGeom>
          <a:solidFill>
            <a:srgbClr val="0B1F3A"/>
          </a:solidFill>
          <a:ln/>
        </p:spPr>
      </p:sp>
      <p:sp>
        <p:nvSpPr>
          <p:cNvPr id="10" name="Text 8"/>
          <p:cNvSpPr/>
          <p:nvPr/>
        </p:nvSpPr>
        <p:spPr>
          <a:xfrm>
            <a:off x="2816352" y="2606040"/>
            <a:ext cx="20848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953512" y="3200400"/>
            <a:ext cx="181051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050" dirty="0">
                <a:solidFill>
                  <a:srgbClr val="C7C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Repetir el menú hasta elegir Salir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084064" y="2286000"/>
            <a:ext cx="2084832" cy="2011680"/>
          </a:xfrm>
          <a:prstGeom prst="roundRect">
            <a:avLst>
              <a:gd name="adj" fmla="val 4545"/>
            </a:avLst>
          </a:prstGeom>
          <a:solidFill>
            <a:srgbClr val="0B1F3A"/>
          </a:solidFill>
          <a:ln/>
        </p:spPr>
      </p:sp>
      <p:sp>
        <p:nvSpPr>
          <p:cNvPr id="13" name="Text 11"/>
          <p:cNvSpPr/>
          <p:nvPr/>
        </p:nvSpPr>
        <p:spPr>
          <a:xfrm>
            <a:off x="5084064" y="2606040"/>
            <a:ext cx="20848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switch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221224" y="3200400"/>
            <a:ext cx="181051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050" dirty="0">
                <a:solidFill>
                  <a:srgbClr val="C7C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Dirigir el flujo según la opción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351776" y="2286000"/>
            <a:ext cx="2084832" cy="2011680"/>
          </a:xfrm>
          <a:prstGeom prst="roundRect">
            <a:avLst>
              <a:gd name="adj" fmla="val 4545"/>
            </a:avLst>
          </a:prstGeom>
          <a:solidFill>
            <a:srgbClr val="0B1F3A"/>
          </a:solidFill>
          <a:ln/>
        </p:spPr>
      </p:sp>
      <p:sp>
        <p:nvSpPr>
          <p:cNvPr id="16" name="Text 14"/>
          <p:cNvSpPr/>
          <p:nvPr/>
        </p:nvSpPr>
        <p:spPr>
          <a:xfrm>
            <a:off x="7351776" y="2606040"/>
            <a:ext cx="20848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función()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488936" y="3200400"/>
            <a:ext cx="181051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050" dirty="0">
                <a:solidFill>
                  <a:srgbClr val="C7C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Depositar, retirar, consultar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9619488" y="2286000"/>
            <a:ext cx="2084832" cy="2011680"/>
          </a:xfrm>
          <a:prstGeom prst="roundRect">
            <a:avLst>
              <a:gd name="adj" fmla="val 4545"/>
            </a:avLst>
          </a:prstGeom>
          <a:solidFill>
            <a:srgbClr val="0B1F3A"/>
          </a:solidFill>
          <a:ln/>
        </p:spPr>
      </p:sp>
      <p:sp>
        <p:nvSpPr>
          <p:cNvPr id="19" name="Text 17"/>
          <p:cNvSpPr/>
          <p:nvPr/>
        </p:nvSpPr>
        <p:spPr>
          <a:xfrm>
            <a:off x="9619488" y="2606040"/>
            <a:ext cx="20848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alert()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756648" y="3200400"/>
            <a:ext cx="181051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050" dirty="0">
                <a:solidFill>
                  <a:srgbClr val="C7C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Comunicar cada resultado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48640" y="4572000"/>
            <a:ext cx="356616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3E6E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47091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99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A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31520" y="50292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base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731520" y="544068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662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menú con while + switch, todavía con alert() de prueba.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297680" y="4572000"/>
            <a:ext cx="356616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3E6E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480560" y="47091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99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B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480560" y="50292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Lógica con funciones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4480560" y="544068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662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Reemplazamos las pruebas por funciones reales que actualizan el saldo.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046720" y="4572000"/>
            <a:ext cx="356616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3E6E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229600" y="47091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99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C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229600" y="50292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Validaciones</a:t>
            </a:r>
            <a:endParaRPr lang="en-US" sz="1450" dirty="0"/>
          </a:p>
        </p:txBody>
      </p:sp>
      <p:sp>
        <p:nvSpPr>
          <p:cNvPr id="32" name="Text 30"/>
          <p:cNvSpPr/>
          <p:nvPr/>
        </p:nvSpPr>
        <p:spPr>
          <a:xfrm>
            <a:off x="8229600" y="544068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662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Agregamos while internos para evitar montos inválidos.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de JavaScript · desde PSeInt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0B1F3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A → B: del esqueleto a las funciones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5440680" cy="4297680"/>
          </a:xfrm>
          <a:prstGeom prst="roundRect">
            <a:avLst>
              <a:gd name="adj" fmla="val 2553"/>
            </a:avLst>
          </a:prstGeom>
          <a:solidFill>
            <a:srgbClr val="1E1E2E"/>
          </a:solidFill>
          <a:ln w="12700">
            <a:solidFill>
              <a:srgbClr val="000000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1764792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7" name="Shape 5"/>
          <p:cNvSpPr/>
          <p:nvPr/>
        </p:nvSpPr>
        <p:spPr>
          <a:xfrm>
            <a:off x="950976" y="1764792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8" name="Shape 6"/>
          <p:cNvSpPr/>
          <p:nvPr/>
        </p:nvSpPr>
        <p:spPr>
          <a:xfrm>
            <a:off x="1152144" y="1764792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9" name="Text 7"/>
          <p:cNvSpPr/>
          <p:nvPr/>
        </p:nvSpPr>
        <p:spPr>
          <a:xfrm>
            <a:off x="1371600" y="1581912"/>
            <a:ext cx="4343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A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caja-de-ahorro.js — Paso 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7240" y="1965960"/>
            <a:ext cx="50292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opcion = "0";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(opcion !== "4") {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opcion = prompt(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"1.Saldo 2.Depositar 3.Retirar 4.Salir"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switch (opcion) {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case "1": alert("Consultar saldo"); break;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case "2": alert("Depositar"); break;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case "3": alert("Retirar"); break;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case "4": alert("Saliendo..."); break;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default: alert("Opción inválida");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172200" y="1600200"/>
            <a:ext cx="5440680" cy="4297680"/>
          </a:xfrm>
          <a:prstGeom prst="roundRect">
            <a:avLst>
              <a:gd name="adj" fmla="val 2553"/>
            </a:avLst>
          </a:prstGeom>
          <a:solidFill>
            <a:srgbClr val="1E1E2E"/>
          </a:solidFill>
          <a:ln w="12700">
            <a:solidFill>
              <a:srgbClr val="000000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373368" y="1764792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3" name="Shape 11"/>
          <p:cNvSpPr/>
          <p:nvPr/>
        </p:nvSpPr>
        <p:spPr>
          <a:xfrm>
            <a:off x="6574536" y="1764792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4" name="Shape 12"/>
          <p:cNvSpPr/>
          <p:nvPr/>
        </p:nvSpPr>
        <p:spPr>
          <a:xfrm>
            <a:off x="6775704" y="1764792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5" name="Text 13"/>
          <p:cNvSpPr/>
          <p:nvPr/>
        </p:nvSpPr>
        <p:spPr>
          <a:xfrm>
            <a:off x="6995160" y="1581912"/>
            <a:ext cx="4343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A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caja-de-ahorro.js — Paso B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355080" y="1965960"/>
            <a:ext cx="50292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saldo = 0;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depositar(saldoActual) {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let monto = Number(prompt("¿Cuánto?"));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let nuevoSaldo = saldoActual + monto;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alert("Nuevo saldo: $" + nuevoSaldo);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nuevoSaldo;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7FB3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retirar() y consultarSaldo() son similares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7FB3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dentro del switch: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7FB3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case "2": saldo = depositar(saldo); break;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de JavaScript · desde PSeInt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C · Repetición y validaciones con while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662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mismo patrón de validación del Módulo 2, ahora dentro de una función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7680960" cy="4983480"/>
          </a:xfrm>
          <a:prstGeom prst="roundRect">
            <a:avLst>
              <a:gd name="adj" fmla="val 2202"/>
            </a:avLst>
          </a:prstGeom>
          <a:solidFill>
            <a:srgbClr val="1E1E2E"/>
          </a:solidFill>
          <a:ln w="12700">
            <a:solidFill>
              <a:srgbClr val="000000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490472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6" name="Shape 4"/>
          <p:cNvSpPr/>
          <p:nvPr/>
        </p:nvSpPr>
        <p:spPr>
          <a:xfrm>
            <a:off x="950976" y="1490472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7" name="Shape 5"/>
          <p:cNvSpPr/>
          <p:nvPr/>
        </p:nvSpPr>
        <p:spPr>
          <a:xfrm>
            <a:off x="1152144" y="1490472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8" name="Text 6"/>
          <p:cNvSpPr/>
          <p:nvPr/>
        </p:nvSpPr>
        <p:spPr>
          <a:xfrm>
            <a:off x="1371600" y="1307592"/>
            <a:ext cx="6583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A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caja-de-ahorro.js — Paso C (final)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1783080"/>
            <a:ext cx="7132320" cy="4343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retirar(saldoActual) {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let monto = Number(prompt("¿Cuánto querés retirar?"));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7FB3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Validación: no negativo ni mayor al saldo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while (monto &lt;= 0 || monto &gt; saldoActual) {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alert("Monto inválido. Máximo: $" + saldoActual);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monto = Number(prompt("¿Cuánto querés retirar?"));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let nuevoSaldo = saldoActual - monto;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alert("Retiro realizado. Nuevo saldo: $" + nuevoSaldo);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nuevoSaldo;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7FB3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depositar() se valida de forma equivalente (monto &gt; 0)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595360" y="1325880"/>
            <a:ext cx="3017520" cy="498348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2700">
            <a:solidFill>
              <a:srgbClr val="E3E6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778240" y="15544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Resultado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778240" y="1965960"/>
            <a:ext cx="2651760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esto tenés un programa completo en un único archivo .js, sin usar HTML en ningún momento: entrada de datos, control de flujo, funciones y validación.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de JavaScript · desde PSeInt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572000" cy="4572000"/>
          </a:xfrm>
          <a:prstGeom prst="roundRect">
            <a:avLst>
              <a:gd name="adj" fmla="val 50000"/>
            </a:avLst>
          </a:prstGeom>
          <a:solidFill>
            <a:srgbClr val="16294A"/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4754880"/>
            <a:ext cx="3657600" cy="3657600"/>
          </a:xfrm>
          <a:prstGeom prst="roundRect">
            <a:avLst>
              <a:gd name="adj" fmla="val 50000"/>
            </a:avLst>
          </a:prstGeom>
          <a:solidFill>
            <a:srgbClr val="16294A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737360"/>
            <a:ext cx="9144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¡A programar!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22960" y="274320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C7C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 tenés todo lo necesario para escribir programas interactivos en JavaScript usando prompt() y alert(), editando en Sublime Text y ejecutando directamente en la Consola del navegador.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3931920"/>
            <a:ext cx="9692640" cy="1371600"/>
          </a:xfrm>
          <a:prstGeom prst="roundRect">
            <a:avLst>
              <a:gd name="adj" fmla="val 6667"/>
            </a:avLst>
          </a:prstGeom>
          <a:solidFill>
            <a:srgbClr val="16294A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41148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  El ciclo de trabajo, siempre: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97280" y="4526280"/>
            <a:ext cx="8961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Escribir  →  Guardar  →  Copiar todo  →  Pegar en la Consola  →  Enter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6126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592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de JavaScript · desde PSeInt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</TotalTime>
  <Words>2955</Words>
  <Application>Microsoft Office PowerPoint</Application>
  <PresentationFormat>Panorámica</PresentationFormat>
  <Paragraphs>487</Paragraphs>
  <Slides>25</Slides>
  <Notes>25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25</vt:i4>
      </vt:variant>
    </vt:vector>
  </HeadingPairs>
  <TitlesOfParts>
    <vt:vector size="29" baseType="lpstr">
      <vt:lpstr>Arial</vt:lpstr>
      <vt:lpstr>Calibri</vt:lpstr>
      <vt:lpstr>Courier New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ZEBALLOS, Nicolas</cp:lastModifiedBy>
  <cp:revision>3</cp:revision>
  <dcterms:created xsi:type="dcterms:W3CDTF">2026-08-11T11:02:25Z</dcterms:created>
  <dcterms:modified xsi:type="dcterms:W3CDTF">2026-08-12T11:42:55Z</dcterms:modified>
</cp:coreProperties>
</file>