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10.png"/><Relationship Id="rId6" Type="http://schemas.openxmlformats.org/officeDocument/2006/relationships/image" Target="../media/image11.png"/><Relationship Id="rId7" Type="http://schemas.openxmlformats.org/officeDocument/2006/relationships/image" Target="../media/image1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image" Target="../media/image14.png"/><Relationship Id="rId4" Type="http://schemas.openxmlformats.org/officeDocument/2006/relationships/image" Target="../media/image15.png"/><Relationship Id="rId5" Type="http://schemas.openxmlformats.org/officeDocument/2006/relationships/image" Target="../media/image16.png"/><Relationship Id="rId6" Type="http://schemas.openxmlformats.org/officeDocument/2006/relationships/image" Target="../media/image17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8.png"/><Relationship Id="rId4" Type="http://schemas.openxmlformats.org/officeDocument/2006/relationships/image" Target="../media/image19.png"/><Relationship Id="rId5" Type="http://schemas.openxmlformats.org/officeDocument/2006/relationships/image" Target="../media/image4.png"/><Relationship Id="rId6" Type="http://schemas.openxmlformats.org/officeDocument/2006/relationships/image" Target="../media/image20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0100" y="2510730"/>
            <a:ext cx="2971800" cy="37147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855595" y="3120330"/>
            <a:ext cx="6480810" cy="7314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5759"/>
              </a:lnSpc>
            </a:pPr>
            <a:r>
              <a:rPr b="1" sz="4800" i="0" u="none">
                <a:solidFill>
                  <a:srgbClr val="F8FAFC"/>
                </a:solidFill>
                <a:latin typeface="Poppins"/>
              </a:rPr>
              <a:t>JavaScript en </a:t>
            </a:r>
            <a:r>
              <a:rPr b="1" sz="4800" i="0" u="none">
                <a:solidFill>
                  <a:srgbClr val="38BDF8"/>
                </a:solidFill>
                <a:latin typeface="Poppins"/>
              </a:rPr>
              <a:t>HTML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52725" y="4042320"/>
            <a:ext cx="668655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400"/>
              </a:lnSpc>
            </a:pPr>
            <a:r>
              <a:rPr b="0" sz="1500" i="0" u="none">
                <a:solidFill>
                  <a:srgbClr val="94A3B8"/>
                </a:solidFill>
                <a:latin typeface="Inter"/>
              </a:rPr>
              <a:t>Guía de integración práctica: Scripts internos, externos y eventos onclick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1314450"/>
            <a:ext cx="11029950" cy="5558283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0550" y="1323975"/>
            <a:ext cx="11010900" cy="4191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1025" y="604837"/>
            <a:ext cx="376237" cy="3048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9625" y="7238404"/>
            <a:ext cx="190500" cy="1905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14425" y="7196583"/>
            <a:ext cx="6686550" cy="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CBD5E1"/>
                </a:solidFill>
                <a:latin typeface="Inter"/>
              </a:rPr>
              <a:t>La etiqueta </a:t>
            </a:r>
            <a:r>
              <a:rPr b="0" sz="1200" i="0" u="none">
                <a:solidFill>
                  <a:srgbClr val="CBD5E1"/>
                </a:solidFill>
                <a:latin typeface="Inter"/>
              </a:rPr>
              <a:t>&lt;/div&gt;</a:t>
            </a:r>
            <a:r>
              <a:rPr b="0" sz="1200" i="0" u="none">
                <a:solidFill>
                  <a:srgbClr val="CBD5E1"/>
                </a:solidFill>
                <a:latin typeface="Inter"/>
              </a:rPr>
              <a:t> ejecuta código directamente al cargarse el documento en el navegador.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53550" y="1438275"/>
            <a:ext cx="2057400" cy="180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94A3B8"/>
                </a:solidFill>
                <a:latin typeface="Fira Code Medium"/>
              </a:rPr>
              <a:t>index.html (Script Interno)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137" y="485775"/>
            <a:ext cx="11036379" cy="5429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2850" i="0" u="none">
                <a:solidFill>
                  <a:srgbClr val="F8FAFC"/>
                </a:solidFill>
                <a:latin typeface="Poppins"/>
              </a:rPr>
              <a:t>JavaScript Dentro del HTML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1314450"/>
            <a:ext cx="5372100" cy="4735413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38875" y="1314450"/>
            <a:ext cx="5372100" cy="4735413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0550" y="1323975"/>
            <a:ext cx="5353050" cy="4191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48400" y="1323975"/>
            <a:ext cx="5353050" cy="4191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1025" y="604837"/>
            <a:ext cx="223837" cy="3048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9625" y="6373713"/>
            <a:ext cx="142875" cy="1905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066800" y="6373713"/>
            <a:ext cx="6410325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CBD5E1"/>
                </a:solidFill>
                <a:latin typeface="Inter"/>
              </a:rPr>
              <a:t>Utilizar archivos externos facilita la modularidad, limpieza y mantenimiento del proyecto.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91100" y="1438275"/>
            <a:ext cx="762000" cy="180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94A3B8"/>
                </a:solidFill>
                <a:latin typeface="Fira Code Medium"/>
              </a:rPr>
              <a:t>index.html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53750" y="1438275"/>
            <a:ext cx="457200" cy="180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94A3B8"/>
                </a:solidFill>
                <a:latin typeface="Fira Code Medium"/>
              </a:rPr>
              <a:t>app.js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47737" y="485775"/>
            <a:ext cx="11196399" cy="5429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2850" i="0" u="none">
                <a:solidFill>
                  <a:srgbClr val="F8FAFC"/>
                </a:solidFill>
                <a:latin typeface="Poppins"/>
              </a:rPr>
              <a:t>JavaScript Desde un Archivo Externo (.js)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1974651"/>
            <a:ext cx="11029950" cy="3089671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0550" y="1984176"/>
            <a:ext cx="11010900" cy="4191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1025" y="604837"/>
            <a:ext cx="300037" cy="3048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9625" y="5388173"/>
            <a:ext cx="238125" cy="1905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62050" y="5388173"/>
            <a:ext cx="67437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CBD5E1"/>
                </a:solidFill>
                <a:latin typeface="Inter"/>
              </a:rPr>
              <a:t>Una función empaqueta instrucciones reutilizables que solo se ejecutan cuando se las invoca.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96550" y="2098476"/>
            <a:ext cx="914400" cy="180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94A3B8"/>
                </a:solidFill>
                <a:latin typeface="Fira Code Medium"/>
              </a:rPr>
              <a:t>funciones.js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3937" y="485775"/>
            <a:ext cx="11116389" cy="5429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2850" i="0" u="none">
                <a:solidFill>
                  <a:srgbClr val="F8FAFC"/>
                </a:solidFill>
                <a:latin typeface="Poppins"/>
              </a:rPr>
              <a:t>Creación de una Función Vacía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1314450"/>
            <a:ext cx="11029950" cy="5832574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1025" y="7337524"/>
            <a:ext cx="11029950" cy="8001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0550" y="1323975"/>
            <a:ext cx="11010900" cy="4191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1025" y="604837"/>
            <a:ext cx="261937" cy="3048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524250" y="7600354"/>
            <a:ext cx="6200775" cy="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125" i="0" u="none">
                <a:solidFill>
                  <a:srgbClr val="94A3B8"/>
                </a:solidFill>
                <a:latin typeface="Inter"/>
              </a:rPr>
              <a:t>Prueba interactiva: Al hacer clic en el botón superior se invoca la función </a:t>
            </a:r>
            <a:r>
              <a:rPr b="0" sz="1125" i="0" u="none">
                <a:solidFill>
                  <a:srgbClr val="94A3B8"/>
                </a:solidFill>
                <a:latin typeface="Inter"/>
              </a:rPr>
              <a:t>miFuncion()</a:t>
            </a:r>
            <a:r>
              <a:rPr b="0" sz="1125" i="0" u="none">
                <a:solidFill>
                  <a:srgbClr val="94A3B8"/>
                </a:solidFill>
                <a:latin typeface="Inter"/>
              </a:rPr>
              <a:t>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34350" y="1438275"/>
            <a:ext cx="3276600" cy="180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94A3B8"/>
                </a:solidFill>
                <a:latin typeface="Fira Code Medium"/>
              </a:rPr>
              <a:t>index.html (Integración con evento onclick)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5837" y="485775"/>
            <a:ext cx="11156394" cy="5429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2850" i="0" u="none">
                <a:solidFill>
                  <a:srgbClr val="F8FAFC"/>
                </a:solidFill>
                <a:latin typeface="Poppins"/>
              </a:rPr>
              <a:t>Llamar la Función desde un Botón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8225" y="2556569"/>
            <a:ext cx="2495550" cy="37147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560683" y="3166169"/>
            <a:ext cx="5070633" cy="639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5040"/>
              </a:lnSpc>
            </a:pPr>
            <a:r>
              <a:rPr b="1" sz="4200" i="0" u="none">
                <a:solidFill>
                  <a:srgbClr val="F8FAFC"/>
                </a:solidFill>
                <a:latin typeface="Poppins"/>
              </a:rPr>
              <a:t>¡Manos a la </a:t>
            </a:r>
            <a:r>
              <a:rPr b="1" sz="4200" i="0" u="none">
                <a:solidFill>
                  <a:srgbClr val="38BDF8"/>
                </a:solidFill>
                <a:latin typeface="Poppins"/>
              </a:rPr>
              <a:t>Obra</a:t>
            </a:r>
            <a:r>
              <a:rPr b="1" sz="4200" i="0" u="none">
                <a:solidFill>
                  <a:srgbClr val="F8FAFC"/>
                </a:solidFill>
                <a:latin typeface="Poppins"/>
              </a:rPr>
              <a:t>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824162" y="3996630"/>
            <a:ext cx="6543675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400"/>
              </a:lnSpc>
            </a:pPr>
            <a:r>
              <a:rPr b="0" sz="1500" i="0" u="none">
                <a:solidFill>
                  <a:srgbClr val="94A3B8"/>
                </a:solidFill>
                <a:latin typeface="Inter"/>
              </a:rPr>
              <a:t>Guarda el archivo HTML y experimenta con los scripts en tu navegador.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